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61" d="100"/>
          <a:sy n="61" d="100"/>
        </p:scale>
        <p:origin x="5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CE20-17A1-FADB-273C-495F4602C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C58D8-CDFE-1514-840B-269C47F77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AEE16-7CBF-6F9A-76FB-F5DF4E1D1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8C36-20BB-E642-2D65-C2BB37D6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52CAC-6753-D18E-49F1-DFB39834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810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3FC6-B844-850E-AF86-1BEE893C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AFB33-D962-4CC1-0F9A-07AB9E63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8D326-E685-7322-86B4-72F41162F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8742-E3F1-EE36-05A1-13C884B2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654D9-9CA0-54E9-83F0-3297587D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10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D6137-F8CD-DD8D-8BE0-06351B60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50473-EB10-17EE-81F0-909122C7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95B87-59B4-BD5C-A333-D204F3012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E0D11-7F55-C896-E3D7-4B40B4F4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4CDF-60A7-11E3-811B-6535692B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13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EBF2-3691-6EC2-B19B-AA9A173B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B3F1-1B41-43EF-3D1F-BC3F8E53F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0A963-8F59-D934-2CAE-B3699047A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442B1-EEAB-5E5B-CBAA-7FE1B489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DBD67-06EE-841E-38D6-55646BE3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84FC1-C31B-2DDC-A85D-28B5AEF6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656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5B93-2394-EC25-95F6-7BA39E55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2330-14C5-3D96-8012-C6E73C778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B5703-4238-670D-166B-0495530D7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61D70-F4F5-320C-4AD7-E8488C105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B981D-2308-3298-C3F6-7E3CDFB7F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CF30A-550F-26D9-FC74-756B2887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774F3-A5B3-4B10-8A8A-8CAD820C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CDCF6E-1EF4-1B85-18D5-E42EA00E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7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8B20-E427-16E2-D672-7FFBDECE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8DAEF-D2EA-C96E-180D-02293B40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D188F-3120-B0A0-6DB0-326FBBF8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00FDB8-2FA2-B4B6-ACEB-CA8041EC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745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94C4F-330D-A572-C728-B0C643EB6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CC85F-EDB2-DCE6-7A0F-FD7D95E9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DEA61-FF8E-5D9D-6608-EE108BBD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44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7DA8-CE40-21D8-2307-70DB89D4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D0C6-69F4-40BF-A1F5-A012DCEAB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6ECA4-ECBE-A168-8B71-CBB7F4EA9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99D35-2DED-F974-F656-375E1094A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5F57F-8605-885D-E72C-6FE75BF1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17CAC-4C03-5D4B-BD15-9637BAAC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33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1708-5C9E-741F-9794-B5611158B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6E8AA-042A-81B7-4153-1558F122D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C3305-2F12-C83F-5976-4B1D4781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49078-A815-94A3-5A26-D5CECFF9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06AFD-5DFB-0F73-0232-E53088A4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4732C-A104-3ED6-97AD-32F6D97F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49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29EE4-0B4F-698B-4D1B-3EE33D06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1488A-9D43-CEA4-60F0-D1DFD2A4B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86916-AC6A-F014-6B44-5FB8B348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75B46-BAE5-26F3-A79B-CD6C8D87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8DF9-3B87-7FF6-0A60-953BD175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568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72082-F572-1879-4E31-65834E648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88018-536E-8548-02BF-CF8C35762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BF3F9-268B-5137-4082-04773946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95454-A474-7CA0-3981-1651023E3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10C3-0E5D-6A66-8329-313EEDCA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82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750878-1191-3ECF-671D-0BC83A1F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F9ABB-B983-E498-AE60-7D6330EDB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D24A7-6AF3-603D-1236-023F2A5AB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0FBCE-617C-49E1-AEBA-0DAA8F42B936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8BB4A-948D-ECCA-46E5-BF2369527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4E996-4071-5CFD-CA74-7AF648CAA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B13F2-CD04-4D75-AE0C-270119C1B9E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9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 600+ Avion Profil Photos, taleaux et images libre de droits - iStock">
            <a:extLst>
              <a:ext uri="{FF2B5EF4-FFF2-40B4-BE49-F238E27FC236}">
                <a16:creationId xmlns:a16="http://schemas.microsoft.com/office/drawing/2014/main" id="{50672D91-3B51-4DE7-2035-89FCD7962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0" y="1263562"/>
            <a:ext cx="10394760" cy="368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E1466B97-92ED-59F0-DE1C-123C5E1D3527}"/>
              </a:ext>
            </a:extLst>
          </p:cNvPr>
          <p:cNvSpPr/>
          <p:nvPr/>
        </p:nvSpPr>
        <p:spPr>
          <a:xfrm rot="10800000">
            <a:off x="5970375" y="1102288"/>
            <a:ext cx="353437" cy="259238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EE566-84A9-83A5-16D4-B7BD1E65AD07}"/>
              </a:ext>
            </a:extLst>
          </p:cNvPr>
          <p:cNvSpPr txBox="1"/>
          <p:nvPr/>
        </p:nvSpPr>
        <p:spPr>
          <a:xfrm>
            <a:off x="6221626" y="1618338"/>
            <a:ext cx="1248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Portance ailes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ABD8256-14C0-DFDA-27C1-6EF044ECBFBE}"/>
              </a:ext>
            </a:extLst>
          </p:cNvPr>
          <p:cNvSpPr/>
          <p:nvPr/>
        </p:nvSpPr>
        <p:spPr>
          <a:xfrm rot="10800000">
            <a:off x="1943859" y="1511498"/>
            <a:ext cx="353438" cy="18749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56F45-1A42-DC0A-D401-53CF58C65BC4}"/>
              </a:ext>
            </a:extLst>
          </p:cNvPr>
          <p:cNvSpPr txBox="1"/>
          <p:nvPr/>
        </p:nvSpPr>
        <p:spPr>
          <a:xfrm>
            <a:off x="2261786" y="1987670"/>
            <a:ext cx="1420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Portance</a:t>
            </a:r>
          </a:p>
          <a:p>
            <a:r>
              <a:rPr lang="fr-FR" dirty="0"/>
              <a:t>empennage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9DE5343-AE54-3751-0FEF-1BF29BDC2001}"/>
              </a:ext>
            </a:extLst>
          </p:cNvPr>
          <p:cNvSpPr/>
          <p:nvPr/>
        </p:nvSpPr>
        <p:spPr>
          <a:xfrm>
            <a:off x="5970375" y="4049445"/>
            <a:ext cx="479062" cy="2326303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CA08F-90B2-1551-32F6-F938E5D278DB}"/>
              </a:ext>
            </a:extLst>
          </p:cNvPr>
          <p:cNvSpPr txBox="1"/>
          <p:nvPr/>
        </p:nvSpPr>
        <p:spPr>
          <a:xfrm>
            <a:off x="6323812" y="5386380"/>
            <a:ext cx="12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Poids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4EC4F27-5445-A3A3-7ED6-70A23246A46E}"/>
              </a:ext>
            </a:extLst>
          </p:cNvPr>
          <p:cNvSpPr/>
          <p:nvPr/>
        </p:nvSpPr>
        <p:spPr>
          <a:xfrm rot="16200000">
            <a:off x="7990214" y="3348315"/>
            <a:ext cx="278027" cy="1678820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9B021-6886-4F4B-9AC0-510448B12306}"/>
              </a:ext>
            </a:extLst>
          </p:cNvPr>
          <p:cNvSpPr txBox="1"/>
          <p:nvPr/>
        </p:nvSpPr>
        <p:spPr>
          <a:xfrm>
            <a:off x="8031659" y="4267928"/>
            <a:ext cx="12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Poussée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7081120-2A92-2F1C-D5C4-9FBE303259DB}"/>
              </a:ext>
            </a:extLst>
          </p:cNvPr>
          <p:cNvSpPr/>
          <p:nvPr/>
        </p:nvSpPr>
        <p:spPr>
          <a:xfrm rot="5400000">
            <a:off x="4801410" y="3098183"/>
            <a:ext cx="388365" cy="17907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2A8B0C-B6CD-636A-A488-AD4D48F9D353}"/>
              </a:ext>
            </a:extLst>
          </p:cNvPr>
          <p:cNvSpPr txBox="1"/>
          <p:nvPr/>
        </p:nvSpPr>
        <p:spPr>
          <a:xfrm>
            <a:off x="4393367" y="4326739"/>
            <a:ext cx="124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Trainée</a:t>
            </a:r>
          </a:p>
        </p:txBody>
      </p:sp>
    </p:spTree>
    <p:extLst>
      <p:ext uri="{BB962C8B-B14F-4D97-AF65-F5344CB8AC3E}">
        <p14:creationId xmlns:p14="http://schemas.microsoft.com/office/powerpoint/2010/main" val="244829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3 600+ Avion Profil Photos, taleaux et images libre de droits - iStock">
            <a:extLst>
              <a:ext uri="{FF2B5EF4-FFF2-40B4-BE49-F238E27FC236}">
                <a16:creationId xmlns:a16="http://schemas.microsoft.com/office/drawing/2014/main" id="{D01DBF64-13DE-9D80-5FB3-B3A80C60B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90978">
            <a:off x="298462" y="221390"/>
            <a:ext cx="10394760" cy="368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B3DA8122-5963-BF46-1B2A-C2B5C89A2843}"/>
              </a:ext>
            </a:extLst>
          </p:cNvPr>
          <p:cNvSpPr/>
          <p:nvPr/>
        </p:nvSpPr>
        <p:spPr>
          <a:xfrm>
            <a:off x="7930460" y="2348645"/>
            <a:ext cx="581804" cy="1159993"/>
          </a:xfrm>
          <a:prstGeom prst="arc">
            <a:avLst>
              <a:gd name="adj1" fmla="val 16200000"/>
              <a:gd name="adj2" fmla="val 151677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49105-7DFD-95FC-7B85-08AF9AFDBBF9}"/>
                  </a:ext>
                </a:extLst>
              </p:cNvPr>
              <p:cNvSpPr txBox="1"/>
              <p:nvPr/>
            </p:nvSpPr>
            <p:spPr>
              <a:xfrm>
                <a:off x="8204547" y="2491511"/>
                <a:ext cx="826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149105-7DFD-95FC-7B85-08AF9AFDB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547" y="2491511"/>
                <a:ext cx="8267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55D857-2A7E-72A3-370A-FAA26FF593DB}"/>
                  </a:ext>
                </a:extLst>
              </p:cNvPr>
              <p:cNvSpPr txBox="1"/>
              <p:nvPr/>
            </p:nvSpPr>
            <p:spPr>
              <a:xfrm>
                <a:off x="909201" y="3970257"/>
                <a:ext cx="7823095" cy="1691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FR" sz="3200" b="0" i="0" smtClean="0">
                          <a:latin typeface="Cambria Math" panose="02040503050406030204" pitchFamily="18" charset="0"/>
                        </a:rPr>
                        <m:t>arctan</m:t>
                      </m:r>
                      <m:d>
                        <m:d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fr-FR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fr-FR" sz="32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55D857-2A7E-72A3-370A-FAA26FF59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01" y="3970257"/>
                <a:ext cx="7823095" cy="16912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47384D-B84D-5049-7374-521E327E46AE}"/>
              </a:ext>
            </a:extLst>
          </p:cNvPr>
          <p:cNvCxnSpPr/>
          <p:nvPr/>
        </p:nvCxnSpPr>
        <p:spPr>
          <a:xfrm>
            <a:off x="1008595" y="3065322"/>
            <a:ext cx="101748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A96FFE-2DD1-4340-B200-6F6BF28C3636}"/>
                  </a:ext>
                </a:extLst>
              </p:cNvPr>
              <p:cNvSpPr txBox="1"/>
              <p:nvPr/>
            </p:nvSpPr>
            <p:spPr>
              <a:xfrm>
                <a:off x="10770046" y="3111466"/>
                <a:ext cx="826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A96FFE-2DD1-4340-B200-6F6BF28C3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0046" y="3111466"/>
                <a:ext cx="8267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7B2CE9-EDE2-428E-C0A6-FB08DA843B3A}"/>
              </a:ext>
            </a:extLst>
          </p:cNvPr>
          <p:cNvCxnSpPr>
            <a:cxnSpLocks/>
          </p:cNvCxnSpPr>
          <p:nvPr/>
        </p:nvCxnSpPr>
        <p:spPr>
          <a:xfrm flipV="1">
            <a:off x="5605647" y="297987"/>
            <a:ext cx="0" cy="3131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56D93B-D61C-1D5F-19F9-1F4716805963}"/>
                  </a:ext>
                </a:extLst>
              </p:cNvPr>
              <p:cNvSpPr txBox="1"/>
              <p:nvPr/>
            </p:nvSpPr>
            <p:spPr>
              <a:xfrm>
                <a:off x="5370581" y="113321"/>
                <a:ext cx="826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A56D93B-D61C-1D5F-19F9-1F4716805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581" y="113321"/>
                <a:ext cx="8267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11E6B0BC-3A99-06CA-6961-4068FA9CFF49}"/>
              </a:ext>
            </a:extLst>
          </p:cNvPr>
          <p:cNvSpPr/>
          <p:nvPr/>
        </p:nvSpPr>
        <p:spPr>
          <a:xfrm rot="4551235">
            <a:off x="5270629" y="-2967343"/>
            <a:ext cx="344823" cy="8842537"/>
          </a:xfrm>
          <a:prstGeom prst="upDownArrow">
            <a:avLst>
              <a:gd name="adj1" fmla="val 0"/>
              <a:gd name="adj2" fmla="val 405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88CB9-BABA-74F0-AF06-7F3AD9978EEF}"/>
              </a:ext>
            </a:extLst>
          </p:cNvPr>
          <p:cNvSpPr txBox="1"/>
          <p:nvPr/>
        </p:nvSpPr>
        <p:spPr>
          <a:xfrm rot="20704141">
            <a:off x="3306533" y="1357206"/>
            <a:ext cx="1296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Fuselage</a:t>
            </a:r>
          </a:p>
        </p:txBody>
      </p:sp>
    </p:spTree>
    <p:extLst>
      <p:ext uri="{BB962C8B-B14F-4D97-AF65-F5344CB8AC3E}">
        <p14:creationId xmlns:p14="http://schemas.microsoft.com/office/powerpoint/2010/main" val="77417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C91C8-5510-B7FB-737A-F983FC01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Equations du mouvement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4DE4E-3CE8-AA1A-E648-1A0AEE1D33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i="1" smtClean="0">
                        <a:latin typeface="Cambria Math" panose="02040503050406030204" pitchFamily="18" charset="0"/>
                      </a:rPr>
                      <m:t>Fz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b="0" i="1" smtClean="0"/>
                      <m:t> </m:t>
                    </m:r>
                    <m:r>
                      <m:rPr>
                        <m:sty m:val="p"/>
                      </m:rPr>
                      <a:rPr lang="fr-FR" b="0" i="1" smtClean="0"/>
                      <m:t>ρ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b="0" i="1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mtClean="0"/>
                      <m:t> 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>
                        <a:latin typeface="Cambria Math" panose="02040503050406030204" pitchFamily="18" charset="0"/>
                      </a:rPr>
                      <m:t>M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=  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1" smtClean="0">
                        <a:latin typeface="Cambria Math" panose="02040503050406030204" pitchFamily="18" charset="0"/>
                      </a:rPr>
                      <m:t>ρ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dirty="0"/>
              </a:p>
              <a:p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obtenus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par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profil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/>
                      <m:t>NACA</m:t>
                    </m:r>
                    <m:r>
                      <m:rPr>
                        <m:nor/>
                      </m:rPr>
                      <a:rPr lang="fr-FR"/>
                      <m:t> </m:t>
                    </m:r>
                    <m:r>
                      <m:rPr>
                        <m:nor/>
                      </m:rPr>
                      <a:rPr lang="fr-FR"/>
                      <m:t>23012</m:t>
                    </m:r>
                  </m:oMath>
                </a14:m>
                <a:r>
                  <a:rPr lang="fr-FR" dirty="0"/>
                  <a:t> (ailes)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E4DE4E-3CE8-AA1A-E648-1A0AEE1D33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49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61F5A4-48B7-F511-8CE9-9697AAE8A7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2162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Lift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b="0" i="1" dirty="0">
                    <a:latin typeface="Cambria Math" panose="02040503050406030204" pitchFamily="18" charset="0"/>
                  </a:rPr>
                  <a:t>	 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Drag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Drag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Lift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Pouss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fr-FR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̈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Lift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Drag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Pouss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fr-FR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acc>
                      <m:accPr>
                        <m:chr m:val="̈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Fuselage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Lift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Empennage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61F5A4-48B7-F511-8CE9-9697AAE8A7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2162"/>
                <a:ext cx="10515600" cy="466725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C23CB3B-B771-3CE1-FF8C-6E64CD77F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PFD + TMC</a:t>
            </a:r>
          </a:p>
        </p:txBody>
      </p:sp>
    </p:spTree>
    <p:extLst>
      <p:ext uri="{BB962C8B-B14F-4D97-AF65-F5344CB8AC3E}">
        <p14:creationId xmlns:p14="http://schemas.microsoft.com/office/powerpoint/2010/main" val="188445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C0391DB-9BC7-7AD7-AE74-EC47BE74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5A8671-7ACF-E77A-1830-502020078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106" y="1170701"/>
            <a:ext cx="6212523" cy="4659393"/>
          </a:xfrm>
          <a:prstGeom prst="rect">
            <a:avLst/>
          </a:prstGeom>
        </p:spPr>
      </p:pic>
      <p:pic>
        <p:nvPicPr>
          <p:cNvPr id="17" name="Picture 16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5590ACE6-A590-1F13-9DD0-F802E1433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9" y="1170701"/>
            <a:ext cx="6332336" cy="474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72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131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Equations du mouvement</vt:lpstr>
      <vt:lpstr>PFD + TMC</vt:lpstr>
      <vt:lpstr>Résultats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De Toma</dc:creator>
  <cp:lastModifiedBy>Matteo De Toma</cp:lastModifiedBy>
  <cp:revision>1</cp:revision>
  <dcterms:created xsi:type="dcterms:W3CDTF">2025-12-10T11:20:42Z</dcterms:created>
  <dcterms:modified xsi:type="dcterms:W3CDTF">2025-12-10T15:40:43Z</dcterms:modified>
</cp:coreProperties>
</file>